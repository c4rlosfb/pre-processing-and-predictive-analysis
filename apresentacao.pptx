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244BE0-04EE-4F41-8271-B709CC343A65}">
  <a:tblStyle styleId="{E4244BE0-04EE-4F41-8271-B709CC343A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43D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 de Câncer de Mama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1325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A0BBD8"/>
                </a:solidFill>
                <a:latin typeface="Calibri"/>
                <a:ea typeface="Calibri"/>
                <a:cs typeface="Calibri"/>
                <a:sym typeface="Calibri"/>
              </a:rPr>
              <a:t>Classificação Preditiva com Implementações Manuais de ML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1874519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A95B5"/>
                </a:solidFill>
                <a:latin typeface="Calibri"/>
                <a:ea typeface="Calibri"/>
                <a:cs typeface="Calibri"/>
                <a:sym typeface="Calibri"/>
              </a:rPr>
              <a:t>Breast Cancer Wisconsin (UCI ID 15)  •  699 biópsias  •  9 características citopatológicas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260550" y="3223263"/>
            <a:ext cx="2286000" cy="1737300"/>
          </a:xfrm>
          <a:prstGeom prst="roundRect">
            <a:avLst>
              <a:gd fmla="val 16667" name="adj"/>
            </a:avLst>
          </a:prstGeom>
          <a:solidFill>
            <a:srgbClr val="152D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443430" y="3406143"/>
            <a:ext cx="19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98,6%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43430" y="4229103"/>
            <a:ext cx="1920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Acurácia</a:t>
            </a:r>
            <a:b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do melhor modelo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952848" y="3223263"/>
            <a:ext cx="2286000" cy="1737300"/>
          </a:xfrm>
          <a:prstGeom prst="roundRect">
            <a:avLst>
              <a:gd fmla="val 16667" name="adj"/>
            </a:avLst>
          </a:prstGeom>
          <a:solidFill>
            <a:srgbClr val="152D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135728" y="3406143"/>
            <a:ext cx="19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135728" y="4229103"/>
            <a:ext cx="1920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b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(zero falsos negativos)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7645146" y="3223263"/>
            <a:ext cx="2286000" cy="1737300"/>
          </a:xfrm>
          <a:prstGeom prst="roundRect">
            <a:avLst>
              <a:gd fmla="val 16667" name="adj"/>
            </a:avLst>
          </a:prstGeom>
          <a:solidFill>
            <a:srgbClr val="152D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828026" y="3406143"/>
            <a:ext cx="19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828026" y="4229103"/>
            <a:ext cx="1920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b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PCA (96,4% var.)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6A80"/>
                </a:solidFill>
                <a:latin typeface="Calibri"/>
                <a:ea typeface="Calibri"/>
                <a:cs typeface="Calibri"/>
                <a:sym typeface="Calibri"/>
              </a:rPr>
              <a:t>Trabalho Prático 2 — Inteligência Artificial  •  Prof. Douglas Castilho  •  IFSULDEMINAS Poços de Caldas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137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" y="5669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Pipeline completo — dos dados brutos à avaliação dos modelos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31520" y="1280160"/>
            <a:ext cx="1554480" cy="1371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22960" y="13533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EB8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22960" y="1691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b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Brutos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2296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699 amostras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9 features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2313432" y="1828800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E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2560320" y="1280160"/>
            <a:ext cx="1554480" cy="1371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2651760" y="13533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EB8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651760" y="1691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Pré-Processamento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265176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Imputação (mediana)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Split 80/20 estrat.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4142232" y="1828800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E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389120" y="1280160"/>
            <a:ext cx="1554480" cy="1371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480560" y="13533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EB8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480560" y="1691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Balanceamento</a:t>
            </a:r>
            <a:b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&amp; Normalização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48056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SMOTE (k=5)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Z-score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971032" y="1828800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E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217920" y="1280160"/>
            <a:ext cx="1554480" cy="1371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6309360" y="13533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EB8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309360" y="1691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Redução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30936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PCA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 7 componentes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7799832" y="1828800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E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8046720" y="1280160"/>
            <a:ext cx="1554480" cy="1371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138160" y="13533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EB8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138160" y="1691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13816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K-NN • C4.5 • MLP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GridSearch com CV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9628632" y="1828800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E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9875520" y="1280160"/>
            <a:ext cx="1554480" cy="1371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9966960" y="13533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EB8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9966960" y="1691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Avaliação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96696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Hold-out 20%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F1-Score (prioritário)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731520" y="3063240"/>
            <a:ext cx="3291840" cy="329184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1005840" y="3246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🧠  Algoritmos Implementados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005840" y="38404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K-NN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005840" y="4069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Distância euclidiana, votação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uniforme e ponderada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005840" y="44348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Árvore C4.5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Gain Ratio + Gini Impurity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poda por profundidade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005840" y="5029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05840" y="5257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Forward/backward propagation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ReLU, sigmoid, Xavier init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005840" y="5623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005840" y="5852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Classe majoritária — piso</a:t>
            </a:r>
            <a:b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mínimo de comparação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4343400" y="3063240"/>
            <a:ext cx="3291840" cy="329184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617720" y="3246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📐  Validação &amp; Métricas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4617720" y="3840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Stratified K-Fold (k=5)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4617720" y="41513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Grid Search completo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617720" y="44622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Acurácia = (TP+TN) / Total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617720" y="4773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Precisão = TP / (TP+FP)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4617720" y="508406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Recall = TP / (TP+FN)  ← prioritário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617720" y="5394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F1-Score = 2·P·R / (P+R)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4617720" y="5705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Matriz de Confusão</a:t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7955280" y="3063240"/>
            <a:ext cx="3291840" cy="329184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8229600" y="3246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🛠  Stack (100% manual)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8229600" y="384048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math + numpy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9692640" y="384048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Álgebra linear, estatística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8229600" y="42062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9692640" y="42062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Visualização (sem seaborn)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8229600" y="4572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csv (builtin)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9692640" y="4572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Leitura/escrita de dados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8229600" y="49377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43D6B"/>
                </a:solidFill>
                <a:latin typeface="Calibri"/>
                <a:ea typeface="Calibri"/>
                <a:cs typeface="Calibri"/>
                <a:sym typeface="Calibri"/>
              </a:rPr>
              <a:t>python-pptx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9692640" y="49377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Geração desta apresentação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8229600" y="5623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🚫 SEM: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8229600" y="58338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scikit-learn, pandas, imblearn, scipy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457200" y="6638535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Trabalho Prático 2 — IA  •  Prof. Douglas Castilho  •  IFSULDEMINAS Poços de Caldas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914400" y="137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914400" y="5669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Todos os modelos com PCA (7 componentes, 96.4% variância explicada)</a:t>
            </a:r>
            <a:endParaRPr/>
          </a:p>
        </p:txBody>
      </p:sp>
      <p:graphicFrame>
        <p:nvGraphicFramePr>
          <p:cNvPr id="173" name="Google Shape;173;p15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{E4244BE0-04EE-4F41-8271-B709CC343A65}</a:tableStyleId>
              </a:tblPr>
              <a:tblGrid>
                <a:gridCol w="2743200"/>
                <a:gridCol w="1005850"/>
                <a:gridCol w="1005850"/>
                <a:gridCol w="1005850"/>
                <a:gridCol w="1097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0B1D3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Majoritária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65.7%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8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K-NN (k=3, distância)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97.8%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0.9412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0.9697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F5E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Árvore C4.5 (entropia, d=3)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98.6%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0.9600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0.9796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 (ReLU, 100 neur.)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97.8%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0.9592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0.9792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0.9691</a:t>
                      </a:r>
                      <a:endParaRPr/>
                    </a:p>
                  </a:txBody>
                  <a:tcPr marT="54875" marB="54875" marR="109725" marL="109725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5"/>
          <p:cNvSpPr/>
          <p:nvPr/>
        </p:nvSpPr>
        <p:spPr>
          <a:xfrm>
            <a:off x="548640" y="3520440"/>
            <a:ext cx="6858000" cy="685800"/>
          </a:xfrm>
          <a:prstGeom prst="roundRect">
            <a:avLst>
              <a:gd fmla="val 16667" name="adj"/>
            </a:avLst>
          </a:prstGeom>
          <a:solidFill>
            <a:srgbClr val="E8F5E0"/>
          </a:solidFill>
          <a:ln cap="flat" cmpd="sng" w="12700">
            <a:solidFill>
              <a:srgbClr val="1B8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822960" y="3611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8A4A"/>
                </a:solidFill>
                <a:latin typeface="Calibri"/>
                <a:ea typeface="Calibri"/>
                <a:cs typeface="Calibri"/>
                <a:sym typeface="Calibri"/>
              </a:rPr>
              <a:t>🏆 Melhor modelo: Árvore C4.5 (entropia, d=3)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822960" y="4315963"/>
            <a:ext cx="640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Recall 100.0%  •  F1-Score 0.9796  •  Acurácia 98.6%  •  0 falsos negativos em 50 casos malignos</a:t>
            </a:r>
            <a:endParaRPr/>
          </a:p>
        </p:txBody>
      </p:sp>
      <p:pic>
        <p:nvPicPr>
          <p:cNvPr descr="matriz_confusao.png" id="177" name="Google Shape;1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280160"/>
            <a:ext cx="393192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/>
          <p:nvPr/>
        </p:nvSpPr>
        <p:spPr>
          <a:xfrm>
            <a:off x="7863850" y="4562273"/>
            <a:ext cx="3931800" cy="1518600"/>
          </a:xfrm>
          <a:prstGeom prst="roundRect">
            <a:avLst>
              <a:gd fmla="val 16667" name="adj"/>
            </a:avLst>
          </a:prstGeom>
          <a:solidFill>
            <a:srgbClr val="E8EE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8016690" y="4674873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📋  Conclusão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8092450" y="4909675"/>
            <a:ext cx="3474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Árvore C4.5 com PCA obteve 100% de recall — nenhum caso de câncer passou despercebido. Apenas 2 falsos positivos em 137 exames. O PCA reduziu a dimensionalidade de 9 para 7 componentes, melhorando todos os modelos. Todas as implementações são manuais (math + numpy), sem bibliotecas de ML.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Trabalho Prático 2 — IA  •  Prof. Douglas Castilho  •  IFSULDEMINAS Poços de Caldas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